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6" d="100"/>
          <a:sy n="36" d="100"/>
        </p:scale>
        <p:origin x="113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anara123@gmail.com" userId="3922c62264b0839f" providerId="LiveId" clId="{33EBF172-409D-4837-96FC-20012C2D9991}"/>
    <pc:docChg chg="delSld modSld">
      <pc:chgData name="lakshmanara123@gmail.com" userId="3922c62264b0839f" providerId="LiveId" clId="{33EBF172-409D-4837-96FC-20012C2D9991}" dt="2026-08-29T03:56:03.333" v="4" actId="47"/>
      <pc:docMkLst>
        <pc:docMk/>
      </pc:docMkLst>
      <pc:sldChg chg="modSp mod">
        <pc:chgData name="lakshmanara123@gmail.com" userId="3922c62264b0839f" providerId="LiveId" clId="{33EBF172-409D-4837-96FC-20012C2D9991}" dt="2026-08-29T03:52:23.681" v="3" actId="20577"/>
        <pc:sldMkLst>
          <pc:docMk/>
          <pc:sldMk cId="0" sldId="256"/>
        </pc:sldMkLst>
        <pc:spChg chg="mod">
          <ac:chgData name="lakshmanara123@gmail.com" userId="3922c62264b0839f" providerId="LiveId" clId="{33EBF172-409D-4837-96FC-20012C2D9991}" dt="2026-08-29T03:52:23.681" v="3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lakshmanara123@gmail.com" userId="3922c62264b0839f" providerId="LiveId" clId="{33EBF172-409D-4837-96FC-20012C2D9991}" dt="2026-08-29T03:52:15.460" v="1" actId="20577"/>
          <ac:spMkLst>
            <pc:docMk/>
            <pc:sldMk cId="0" sldId="256"/>
            <ac:spMk id="9" creationId="{00000000-0000-0000-0000-000000000000}"/>
          </ac:spMkLst>
        </pc:spChg>
      </pc:sldChg>
      <pc:sldChg chg="del">
        <pc:chgData name="lakshmanara123@gmail.com" userId="3922c62264b0839f" providerId="LiveId" clId="{33EBF172-409D-4837-96FC-20012C2D9991}" dt="2026-08-29T03:56:03.333" v="4" actId="47"/>
        <pc:sldMkLst>
          <pc:docMk/>
          <pc:sldMk cId="0" sldId="2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view_s1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68502"/>
            <a:ext cx="13258800" cy="17338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94560"/>
            <a:ext cx="16824960" cy="1949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F172A"/>
                </a:solidFill>
                <a:latin typeface="Times New Roman"/>
              </a:defRPr>
            </a:pPr>
            <a:r>
              <a:rPr dirty="0"/>
              <a:t>Occupancy-Aware Smart Library Seat Reservation with Predictive Demand Analytics</a:t>
            </a:r>
          </a:p>
          <a:p>
            <a:pPr algn="ctr">
              <a:spcBef>
                <a:spcPts val="1400"/>
              </a:spcBef>
              <a:defRPr sz="2500" b="1">
                <a:solidFill>
                  <a:srgbClr val="2563EB"/>
                </a:solidFill>
                <a:latin typeface="Times New Roman"/>
              </a:defRPr>
            </a:pPr>
            <a:r>
              <a:rPr dirty="0"/>
              <a:t>CSA0925 - Java Programming 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46320"/>
            <a:ext cx="813816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PROJECT GUIDANCE &amp; INSTITUTION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715000"/>
            <a:ext cx="7498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Under the Guidance of: </a:t>
            </a:r>
            <a:r>
              <a:rPr sz="1950">
                <a:solidFill>
                  <a:srgbClr val="1E293B"/>
                </a:solidFill>
                <a:latin typeface="Times New Roman"/>
              </a:rPr>
              <a:t>Dr. C. Sivasankar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Designation: </a:t>
            </a:r>
            <a:r>
              <a:rPr sz="1950">
                <a:solidFill>
                  <a:srgbClr val="1E293B"/>
                </a:solidFill>
                <a:latin typeface="Times New Roman"/>
              </a:rPr>
              <a:t>Assistant Professor / Faculty Mentor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Department: </a:t>
            </a:r>
            <a:r>
              <a:rPr sz="1950">
                <a:solidFill>
                  <a:srgbClr val="1E293B"/>
                </a:solidFill>
                <a:latin typeface="Times New Roman"/>
              </a:rPr>
              <a:t>Department of Artificial Intelligence &amp; Data Science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Institution: </a:t>
            </a:r>
            <a:r>
              <a:rPr sz="1950">
                <a:solidFill>
                  <a:srgbClr val="1E293B"/>
                </a:solidFill>
                <a:latin typeface="Times New Roman"/>
              </a:rPr>
              <a:t>SIMATS Engineering, Saveetha Institute of Medical and Technical Sciences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4846320"/>
            <a:ext cx="813816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0" y="4846320"/>
            <a:ext cx="813816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PRESENTED BY (STUDENT TEAM)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5715000"/>
            <a:ext cx="7498080" cy="1779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200"/>
              </a:spcAft>
            </a:pPr>
            <a:r>
              <a:rPr sz="2100" b="1" dirty="0">
                <a:solidFill>
                  <a:srgbClr val="1E3A8A"/>
                </a:solidFill>
                <a:latin typeface="Times New Roman"/>
              </a:rPr>
              <a:t>• E. Lakshmi Narayanan: </a:t>
            </a:r>
            <a:r>
              <a:rPr sz="2050" dirty="0">
                <a:solidFill>
                  <a:srgbClr val="1E293B"/>
                </a:solidFill>
                <a:latin typeface="Times New Roman"/>
              </a:rPr>
              <a:t>Register No: 192524249  |  B.E. AI &amp; DS</a:t>
            </a:r>
          </a:p>
          <a:p>
            <a:pPr>
              <a:spcBef>
                <a:spcPts val="600"/>
              </a:spcBef>
              <a:spcAft>
                <a:spcPts val="2200"/>
              </a:spcAft>
            </a:pPr>
            <a:r>
              <a:rPr sz="2100" b="1" dirty="0">
                <a:solidFill>
                  <a:srgbClr val="1E3A8A"/>
                </a:solidFill>
                <a:latin typeface="Times New Roman"/>
              </a:rPr>
              <a:t>• </a:t>
            </a:r>
            <a:r>
              <a:rPr sz="2100" b="1" dirty="0" err="1">
                <a:solidFill>
                  <a:srgbClr val="1E3A8A"/>
                </a:solidFill>
                <a:latin typeface="Times New Roman"/>
              </a:rPr>
              <a:t>JayaKannan</a:t>
            </a:r>
            <a:r>
              <a:rPr sz="2100" b="1" dirty="0">
                <a:solidFill>
                  <a:srgbClr val="1E3A8A"/>
                </a:solidFill>
                <a:latin typeface="Times New Roman"/>
              </a:rPr>
              <a:t> L: </a:t>
            </a:r>
            <a:r>
              <a:rPr sz="2050" dirty="0">
                <a:solidFill>
                  <a:srgbClr val="1E293B"/>
                </a:solidFill>
                <a:latin typeface="Times New Roman"/>
              </a:rPr>
              <a:t>Register No: 192525376  |  B.E. AI &amp; ML</a:t>
            </a:r>
          </a:p>
          <a:p>
            <a:pPr>
              <a:spcBef>
                <a:spcPts val="600"/>
              </a:spcBef>
              <a:spcAft>
                <a:spcPts val="2200"/>
              </a:spcAft>
            </a:pPr>
            <a:endParaRPr sz="2050" dirty="0">
              <a:solidFill>
                <a:srgbClr val="1E293B"/>
              </a:solidFill>
              <a:latin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946404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PROJECT OVERVIEW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Application Domain &amp; Core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05055"/>
            <a:ext cx="7498080" cy="589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Application Domain: </a:t>
            </a:r>
            <a:r>
              <a:rPr sz="2400">
                <a:solidFill>
                  <a:srgbClr val="1E293B"/>
                </a:solidFill>
                <a:latin typeface="Times New Roman"/>
              </a:rPr>
              <a:t>Smart Campus Infrastructure, Intelligent Resource Management &amp; Applied Java Enterprise Systems.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System Definition: </a:t>
            </a:r>
            <a:r>
              <a:rPr sz="2400">
                <a:solidFill>
                  <a:srgbClr val="1E293B"/>
                </a:solidFill>
                <a:latin typeface="Times New Roman"/>
              </a:rPr>
              <a:t>A full-stack, concurrency-safe Java platform providing real-time library seat mapping, automated no-show cancellation, and predictive demand analytics.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Core Mission: </a:t>
            </a:r>
            <a:r>
              <a:rPr sz="2400">
                <a:solidFill>
                  <a:srgbClr val="1E293B"/>
                </a:solidFill>
                <a:latin typeface="Times New Roman"/>
              </a:rPr>
              <a:t>To eliminate physical seat hunting, maximize institutional desk utilization during exam spikes, and eradicate phantom reservations.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Zero Hardware Barrier: </a:t>
            </a:r>
            <a:r>
              <a:rPr sz="2400">
                <a:solidFill>
                  <a:srgbClr val="1E293B"/>
                </a:solidFill>
                <a:latin typeface="Times New Roman"/>
              </a:rPr>
              <a:t>Engineered as an intelligent software-driven ecosystem requiring zero expensive RFID or physical sensor hardware investments.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Target Stakeholders &amp; Key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805055"/>
            <a:ext cx="7498080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Students &amp; Scholars: </a:t>
            </a:r>
            <a:r>
              <a:rPr sz="2400">
                <a:solidFill>
                  <a:srgbClr val="1E293B"/>
                </a:solidFill>
                <a:latin typeface="Times New Roman"/>
              </a:rPr>
              <a:t>Check live seat status across study zones, reserve preferred desks instantly, and receive rush-hour notifications.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Faculty &amp; Researchers: </a:t>
            </a:r>
            <a:r>
              <a:rPr sz="2400">
                <a:solidFill>
                  <a:srgbClr val="1E293B"/>
                </a:solidFill>
                <a:latin typeface="Times New Roman"/>
              </a:rPr>
              <a:t>Reserve dedicated quiet carrels and group discussion pods with guaranteed slot availability and zero conflicts.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Library Administrators: </a:t>
            </a:r>
            <a:r>
              <a:rPr sz="2400">
                <a:solidFill>
                  <a:srgbClr val="1E293B"/>
                </a:solidFill>
                <a:latin typeface="Times New Roman"/>
              </a:rPr>
              <a:t>Automated policy enforcement, live occupancy overview, zero manual logbook overhead, and resolved seating disputes.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Institutional Management: </a:t>
            </a:r>
            <a:r>
              <a:rPr sz="2400">
                <a:solidFill>
                  <a:srgbClr val="1E293B"/>
                </a:solidFill>
                <a:latin typeface="Times New Roman"/>
              </a:rPr>
              <a:t>Data-driven analytics, zone utilization heatmaps, and empirical evidence for library capacity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PROBLEM STATEMENT &amp;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3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Problem Definition &amp; Root Causes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51266"/>
            <a:ext cx="7498080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Core Real-World Issue: </a:t>
            </a:r>
            <a:r>
              <a:rPr sz="2400">
                <a:solidFill>
                  <a:srgbClr val="1E293B"/>
                </a:solidFill>
                <a:latin typeface="Times New Roman"/>
              </a:rPr>
              <a:t>Traditional library seating systems operate on unmanaged manual allocation, causing severe congestion, long queues, and student friction.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Lack of Live Visibility: </a:t>
            </a:r>
            <a:r>
              <a:rPr sz="2400">
                <a:solidFill>
                  <a:srgbClr val="1E293B"/>
                </a:solidFill>
                <a:latin typeface="Times New Roman"/>
              </a:rPr>
              <a:t>Students have zero visibility into available desks before physically arriving at the library.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Manual Paper Registers: </a:t>
            </a:r>
            <a:r>
              <a:rPr sz="2400">
                <a:solidFill>
                  <a:srgbClr val="1E293B"/>
                </a:solidFill>
                <a:latin typeface="Times New Roman"/>
              </a:rPr>
              <a:t>Paper logbooks cause long entry delays, human recording errors, and completely lack check-out tracking.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The 'Ghost Booking' Problem: </a:t>
            </a:r>
            <a:r>
              <a:rPr sz="2400">
                <a:solidFill>
                  <a:srgbClr val="1E293B"/>
                </a:solidFill>
                <a:latin typeface="Times New Roman"/>
              </a:rPr>
              <a:t>Students hoard desks with books or reserve online but fail to show up, leaving desks idle while others wait.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Empirical Evidence &amp; Measurable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751266"/>
            <a:ext cx="7498080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10–20 Minutes Wasted: </a:t>
            </a:r>
            <a:r>
              <a:rPr sz="2400">
                <a:solidFill>
                  <a:srgbClr val="1E293B"/>
                </a:solidFill>
                <a:latin typeface="Times New Roman"/>
              </a:rPr>
              <a:t>Average student search time wasted per visit wandering across floors to find an empty desk during peak hours.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&gt;90% Peak Load Congestion: </a:t>
            </a:r>
            <a:r>
              <a:rPr sz="2400">
                <a:solidFill>
                  <a:srgbClr val="1E293B"/>
                </a:solidFill>
                <a:latin typeface="Times New Roman"/>
              </a:rPr>
              <a:t>Library occupancy routinely exceeds 90% during midterms and final examination periods, causing extreme crowding.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20–30% Phantom Wastage: </a:t>
            </a:r>
            <a:r>
              <a:rPr sz="2400">
                <a:solidFill>
                  <a:srgbClr val="1E293B"/>
                </a:solidFill>
                <a:latin typeface="Times New Roman"/>
              </a:rPr>
              <a:t>Up to 30% of reserved seats remain completely unoccupied due to unchecked student no-shows.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Expected Project Impact: </a:t>
            </a:r>
            <a:r>
              <a:rPr sz="2400">
                <a:solidFill>
                  <a:srgbClr val="1E293B"/>
                </a:solidFill>
                <a:latin typeface="Times New Roman"/>
              </a:rPr>
              <a:t>Slashes search latency by &gt;90%, increases seat turnover efficiency by &gt;25%, and ensures 100% fair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MOTIVATION &amp; SOCIAL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Motivation &amp;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4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9319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93192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1. Academic Productivity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05058"/>
            <a:ext cx="3291839" cy="6104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•Time Conservation: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Eliminates frustrating seat searches during high-stress exam periods, conserving valuable study time.</a:t>
            </a:r>
          </a:p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•Focused Study: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Ensures students secure appropriate zones (Silent, Discussion, Lab) without disruption.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371600"/>
            <a:ext cx="39319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37760" y="1371600"/>
            <a:ext cx="393192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2. Fair Resource Sharing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805058"/>
            <a:ext cx="3291839" cy="567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•Democratic Access: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Prevents unfair desk hoarding and ensures equal availability across</a:t>
            </a:r>
            <a:r>
              <a:rPr lang="en-IN" sz="2800" dirty="0">
                <a:solidFill>
                  <a:srgbClr val="1E293B"/>
                </a:solidFill>
                <a:latin typeface="Times New Roman"/>
              </a:rPr>
              <a:t>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all departments.</a:t>
            </a:r>
          </a:p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•Transparent Policy: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Enforces first-come-first-served rules backed by automated timeout.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71600"/>
            <a:ext cx="39319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0" y="1371600"/>
            <a:ext cx="3931920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3. Automated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805058"/>
            <a:ext cx="3291839" cy="567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15-Min Auto-Release: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Automatically revokes abandoned reservations and returns desks to the pool.</a:t>
            </a:r>
          </a:p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•Zero Staff Policing: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Frees librarians from manual monitoring to focus on core academic services.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50240" y="1371600"/>
            <a:ext cx="420624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3350240" y="1371600"/>
            <a:ext cx="420624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4. Smart Campus 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70280" y="2805058"/>
            <a:ext cx="3566159" cy="524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•Data-Driven Insights: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Supplies administration with accurate empirical occupancy metrics.</a:t>
            </a:r>
          </a:p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</a:t>
            </a:r>
            <a:r>
              <a:rPr lang="en-IN" sz="2800" b="1" dirty="0">
                <a:solidFill>
                  <a:srgbClr val="1E3A8A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1E3A8A"/>
                </a:solidFill>
                <a:latin typeface="Times New Roman"/>
              </a:rPr>
              <a:t>Scalabl</a:t>
            </a:r>
            <a:r>
              <a:rPr lang="en-IN" sz="2800" b="1" dirty="0">
                <a:solidFill>
                  <a:srgbClr val="1E3A8A"/>
                </a:solidFill>
                <a:latin typeface="Times New Roman"/>
              </a:rPr>
              <a:t>e </a:t>
            </a:r>
            <a:r>
              <a:rPr sz="2800" b="1" dirty="0">
                <a:solidFill>
                  <a:srgbClr val="1E3A8A"/>
                </a:solidFill>
                <a:latin typeface="Times New Roman"/>
              </a:rPr>
              <a:t>Java Platform: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Modernizes legacy university infrastructure into an intelligent digital ecosystem.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CURRENT PRACTICE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Existing System / Current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5 of 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160281"/>
              </p:ext>
            </p:extLst>
          </p:nvPr>
        </p:nvGraphicFramePr>
        <p:xfrm>
          <a:off x="731519" y="3314700"/>
          <a:ext cx="168249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409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</a:rPr>
                        <a:t>Current Practice Method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Operational Workflow Mechanism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</a:rPr>
                        <a:t>Critical Limitations &amp; Bottlenecks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</a:rPr>
                        <a:t>Impact on Students / Staff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409">
                <a:tc>
                  <a:txBody>
                    <a:bodyPr/>
                    <a:lstStyle/>
                    <a:p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Physical Walk-in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Students walk through multiple floors searching manually for empty desks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High search time (10-20 min), overcrowding, elevated noise levels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Wasted study time, high student frustration, delayed study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4409">
                <a:tc>
                  <a:txBody>
                    <a:bodyPr/>
                    <a:lstStyle/>
                    <a:p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Manual Paper Logbook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Librarian writes student registration number at entrance register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No real-time exit tracking, zero desk-level visibility, prone to human error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Heavy administrative workload, inaccurate occupancy records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4412">
                <a:tc>
                  <a:txBody>
                    <a:bodyPr/>
                    <a:lstStyle/>
                    <a:p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Basic Static Web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Simple web form allows students to book a slot for several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No check-in verification, no automatic penalty for no-shows, zero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 dirty="0">
                          <a:solidFill>
                            <a:srgbClr val="1E293B"/>
                          </a:solidFill>
                          <a:latin typeface="Times New Roman"/>
                        </a:rPr>
                        <a:t>Ghost bookings block 20-30% of seats from active 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RESEARCH &amp; KNOWLEDGE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Research / Knowledge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6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Gap 1: Prohibitive Hardware &amp; Maintenance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51266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Sensor-Heavy Literature: </a:t>
            </a:r>
            <a:r>
              <a:rPr sz="1900">
                <a:solidFill>
                  <a:srgbClr val="1E293B"/>
                </a:solidFill>
                <a:latin typeface="Times New Roman"/>
              </a:rPr>
              <a:t>Existing IoT-based research relies heavily on PIR, pressure sensors, or RFID turnstiles on every chair.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Maintenance &amp; Scalability: </a:t>
            </a:r>
            <a:r>
              <a:rPr sz="1900">
                <a:solidFill>
                  <a:srgbClr val="1E293B"/>
                </a:solidFill>
                <a:latin typeface="Times New Roman"/>
              </a:rPr>
              <a:t>Physical sensors suffer high failure rates, battery depletion, and cost thousands of dollars to deploy.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Gap 2: Missing No-Show Recovery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751266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Unregulated Reservations: </a:t>
            </a:r>
            <a:r>
              <a:rPr sz="1900">
                <a:solidFill>
                  <a:srgbClr val="1E293B"/>
                </a:solidFill>
                <a:latin typeface="Times New Roman"/>
              </a:rPr>
              <a:t>Most campus reservation portals do not validate physical student arrival.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Lack of Dynamic Re-pooling: </a:t>
            </a:r>
            <a:r>
              <a:rPr sz="1900">
                <a:solidFill>
                  <a:srgbClr val="1E293B"/>
                </a:solidFill>
                <a:latin typeface="Times New Roman"/>
              </a:rPr>
              <a:t>Once booked, a seat remains locked even if the student never arrives, depriving others of study space.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813816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Gap 3: Absent Predictive Demand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6890270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Purely Reactive Systems: </a:t>
            </a:r>
            <a:r>
              <a:rPr sz="1900">
                <a:solidFill>
                  <a:srgbClr val="1E293B"/>
                </a:solidFill>
                <a:latin typeface="Times New Roman"/>
              </a:rPr>
              <a:t>Current systems only show historical or present state, offering zero guidance on upcoming rush hours.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No Smart Alternatives: </a:t>
            </a:r>
            <a:r>
              <a:rPr sz="1900">
                <a:solidFill>
                  <a:srgbClr val="1E293B"/>
                </a:solidFill>
                <a:latin typeface="Times New Roman"/>
              </a:rPr>
              <a:t>When a study zone is saturated, existing systems fail to suggest adjacent low-occupancy time slots.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18320" y="5349240"/>
            <a:ext cx="813816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Our Proposed Solution &amp; Opportunity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6890270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Pure Java Enterprise Architecture: </a:t>
            </a:r>
            <a:r>
              <a:rPr sz="1900">
                <a:solidFill>
                  <a:srgbClr val="1E293B"/>
                </a:solidFill>
                <a:latin typeface="Times New Roman"/>
              </a:rPr>
              <a:t>Zero additional hardware required; delivers live tracking via robust software transactions.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Automated Grace Daemon &amp; ML Predictor: </a:t>
            </a:r>
            <a:r>
              <a:rPr sz="1900">
                <a:solidFill>
                  <a:srgbClr val="1E293B"/>
                </a:solidFill>
                <a:latin typeface="Times New Roman"/>
              </a:rPr>
              <a:t>Combines atomic concurrency, a 15-minute auto-release engine, and moving-average demand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PROPOSED SYSTEM &amp;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7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5953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5953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Core Architectural Innovations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66418"/>
            <a:ext cx="7955280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1. Real-Time Floor Matrix: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Sub-second synchronized visual grid displaying desk status (Available, Reserved, Occupied) across Silent, Discussion, and Digital zones.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2. 15-Minute Auto-Release Daemon: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An asynchronous background thread that automatically detects no-shows after 15 minutes, revokes the reservation, and restores the desk.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3. Moving Average Demand Forecaster: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A time-series analytics engine calculating hourly demand trends to alert users to peak rush periods.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4. Dynamic Alternative Recommendation: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Intelligently suggests nearby vacant desks or off-peak hours when target slots are saturated.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5. Concurrency-Safe Java Engine: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Thread-safe transactional booking utilizing </a:t>
            </a:r>
            <a:r>
              <a:rPr sz="1850" dirty="0" err="1">
                <a:solidFill>
                  <a:srgbClr val="1E293B"/>
                </a:solidFill>
                <a:latin typeface="Times New Roman"/>
              </a:rPr>
              <a:t>ReentrantLock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 and ACID database isolation to guarantee zero double-bookings.</a:t>
            </a:r>
          </a:p>
        </p:txBody>
      </p:sp>
      <p:pic>
        <p:nvPicPr>
          <p:cNvPr id="12" name="Picture 11" descr="batch 8_s10_im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148840"/>
            <a:ext cx="7863840" cy="5242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PROJECT OBJECTIVES &amp;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8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682496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68249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Primary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618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Core Engineering Mission: </a:t>
            </a:r>
            <a:r>
              <a:rPr sz="1950">
                <a:solidFill>
                  <a:srgbClr val="1E293B"/>
                </a:solidFill>
                <a:latin typeface="Times New Roman"/>
              </a:rPr>
              <a:t>To design, develop, and empirically validate an occupancy-aware smart library seat reservation platform powered by Core Java, JDBC, and Moving Average predictive analytics, eliminating seat hunting and phantom bookings.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682496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474720"/>
            <a:ext cx="1618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E3A8A"/>
                </a:solidFill>
                <a:latin typeface="Times New Roman"/>
              </a:rPr>
              <a:t>• Objective 1: Real-Time Telemetry: </a:t>
            </a:r>
            <a:r>
              <a:rPr sz="1850">
                <a:solidFill>
                  <a:srgbClr val="1E293B"/>
                </a:solidFill>
                <a:latin typeface="Times New Roman"/>
              </a:rPr>
              <a:t>Develop a visual interactive seat matrix with sub-second synchronized state tracking across all library zones.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25696"/>
            <a:ext cx="1682496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700016"/>
            <a:ext cx="1618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E3A8A"/>
                </a:solidFill>
                <a:latin typeface="Times New Roman"/>
              </a:rPr>
              <a:t>• Objective 2: Automated Grace Daemon: </a:t>
            </a:r>
            <a:r>
              <a:rPr sz="1850">
                <a:solidFill>
                  <a:srgbClr val="1E293B"/>
                </a:solidFill>
                <a:latin typeface="Times New Roman"/>
              </a:rPr>
              <a:t>Implement a 15-minute check-in validation daemon to automatically release no-shows and reclaim idle capacity.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50992"/>
            <a:ext cx="1682496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5925312"/>
            <a:ext cx="1618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E3A8A"/>
                </a:solidFill>
                <a:latin typeface="Times New Roman"/>
              </a:rPr>
              <a:t>• Objective 3: Predictive Analytics Engine: </a:t>
            </a:r>
            <a:r>
              <a:rPr sz="1850">
                <a:solidFill>
                  <a:srgbClr val="1E293B"/>
                </a:solidFill>
                <a:latin typeface="Times New Roman"/>
              </a:rPr>
              <a:t>Implement Moving Average (SMA/WMA) algorithms to forecast slot congestion with &gt;90% directional accuracy.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876288"/>
            <a:ext cx="1682496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7150608"/>
            <a:ext cx="1618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E3A8A"/>
                </a:solidFill>
                <a:latin typeface="Times New Roman"/>
              </a:rPr>
              <a:t>• Objective 4: Smart Recommendation Heuristic: </a:t>
            </a:r>
            <a:r>
              <a:rPr sz="1850">
                <a:solidFill>
                  <a:srgbClr val="1E293B"/>
                </a:solidFill>
                <a:latin typeface="Times New Roman"/>
              </a:rPr>
              <a:t>Build an automated recommendation engine suggesting optimal alternative slots during peak congestion.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8101583"/>
            <a:ext cx="1682496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8375904"/>
            <a:ext cx="1618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E3A8A"/>
                </a:solidFill>
                <a:latin typeface="Times New Roman"/>
              </a:rPr>
              <a:t>• Objective 5: Administrative Intelligence: </a:t>
            </a:r>
            <a:r>
              <a:rPr sz="1850">
                <a:solidFill>
                  <a:srgbClr val="1E293B"/>
                </a:solidFill>
                <a:latin typeface="Times New Roman"/>
              </a:rPr>
              <a:t>Deliver an analytics dashboard with zone heatmaps, no-show audits, and utilization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ENGINEERING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Requirements &amp; Specifications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9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Functional &amp; Non-Functional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7498080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Functional Requirements (FR): 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User Authentication (FR1):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Secure login with role-based access control (Student / Admin).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Interactive Seat Map (FR2):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Live visual floor grid filtered by zone, floor, and amenities.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Reservation Lifecycle (FR3):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Reserve, check-in, cancel, extend, and automated grace release.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Predictive Analytics (FR4):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Moving average congestion alerts and smart alternate suggestions.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Administrative Portal (FR5):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Live telemetry overview, utilization heatmaps, and audit logs.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Non-Functional Requirements (NFR): 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Performance Latency: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&lt;200ms query latency via JDBC connection pooling.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Concurrency &amp; ACID Safety: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Thread-safe atomic locks preventing duplicate seat allocation.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High Availability: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99.9% uptime with persistent relational MySQL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Hardware &amp; Software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240280"/>
            <a:ext cx="7498080" cy="6268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Software Stack Specifications: 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Core Language: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Java Standard Edition (JDK 17 / 21 LTS)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Relational Database: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MySQL 8.0 Community Server (</a:t>
            </a:r>
            <a:r>
              <a:rPr sz="1750" dirty="0" err="1">
                <a:solidFill>
                  <a:srgbClr val="1E293B"/>
                </a:solidFill>
                <a:latin typeface="Times New Roman"/>
              </a:rPr>
              <a:t>InnoDB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 Engine)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Database Connectivity: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MySQL Connector/J 8.x Driver with Connection Pooling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Presentation Layer: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HTML5, CSS3, Modern ES6+ JavaScript, JavaFX GUI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Data Visualization: </a:t>
            </a:r>
            <a:r>
              <a:rPr sz="1750" dirty="0" err="1">
                <a:solidFill>
                  <a:srgbClr val="1E293B"/>
                </a:solidFill>
                <a:latin typeface="Times New Roman"/>
              </a:rPr>
              <a:t>JFreeChart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 1.5 &amp; Matplotlib visualization engine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Application Server: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Apache Tomcat 10.x / Embedded HTTP Server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Hardware &amp; Infrastructure Specifications: 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Host Server Specs: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Standard PC / Server (Intel Core i5+, 8GB RAM, 256GB SSD)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Client Environment: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Standard Web Browser (Desktop, Laptop, or Smartphone)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Network Protocol: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TCP/IP, HTTP/HTTPS, Campus Local Area Network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LITERATURE &amp; TECHNOLOGY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Literature / Technology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10 of 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6824960" cy="77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Publication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 Used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Key Findings &amp; Limitations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Takeaway for Proposed System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Li et al.
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IEEE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PIR &amp; Pressure sensors with RFID 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Effective real-time detection, but high hardware cost and sensor 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Adopt software-driven state tracking to eliminate sensor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Kumar &amp; Patel
(2024)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IEEE IoT Journal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Time-series moving average &amp; regression models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Demonstrated that student traffic follows predictable hourly moving trends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Implemented Moving Average algorithm for demand prediction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Zhang et al.
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IJITCS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CCTV cameras and CNN object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High GPU compute required; privacy concerns raised by 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Avoid intrusive cameras; use non-invasive booking 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Wang &amp; Zhao
(2024)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LIS Journal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Analyzed 50,000 reservation logs using Grey 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Discovered 25-30% no-show rate during exam periods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Engineered 15-minute auto-release daemon to reclaim no-show seats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Smith et al.
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ICAISS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Dual-channel Faster R-CNN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Lighting variances and occlusions degraded detection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Pure relational database state machine guarantees 100% deterministic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SYSTEM ARCHITECTURE &amp;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11 of 30</a:t>
            </a:r>
          </a:p>
        </p:txBody>
      </p:sp>
      <p:pic>
        <p:nvPicPr>
          <p:cNvPr id="9" name="Picture 8" descr="review_s10_im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10424160" cy="6949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1430000" y="1371600"/>
            <a:ext cx="612648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430000" y="1371600"/>
            <a:ext cx="612648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3-Tier Layered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2240280"/>
            <a:ext cx="5486400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Presentation Layer: </a:t>
            </a:r>
            <a:r>
              <a:rPr sz="1750">
                <a:solidFill>
                  <a:srgbClr val="1E293B"/>
                </a:solidFill>
                <a:latin typeface="Times New Roman"/>
              </a:rPr>
              <a:t>Interactive Web UI (HTML/CSS/JS) &amp; JavaFX Admin GUI for real-time visual grid and charts.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Application Layer (Core Java): </a:t>
            </a:r>
            <a:r>
              <a:rPr sz="1750">
                <a:solidFill>
                  <a:srgbClr val="1E293B"/>
                </a:solidFill>
                <a:latin typeface="Times New Roman"/>
              </a:rPr>
              <a:t>Handles core business logic: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  • AuthService: </a:t>
            </a:r>
            <a:r>
              <a:rPr sz="1750">
                <a:solidFill>
                  <a:srgbClr val="1E293B"/>
                </a:solidFill>
                <a:latin typeface="Times New Roman"/>
              </a:rPr>
              <a:t>BCrypt hashing and role management.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  • ReservationService: </a:t>
            </a:r>
            <a:r>
              <a:rPr sz="1750">
                <a:solidFill>
                  <a:srgbClr val="1E293B"/>
                </a:solidFill>
                <a:latin typeface="Times New Roman"/>
              </a:rPr>
              <a:t>Thread-safe booking engine.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  • OccupancyManager: </a:t>
            </a:r>
            <a:r>
              <a:rPr sz="1750">
                <a:solidFill>
                  <a:srgbClr val="1E293B"/>
                </a:solidFill>
                <a:latin typeface="Times New Roman"/>
              </a:rPr>
              <a:t>Live seat state caching.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  • DemandPredictor: </a:t>
            </a:r>
            <a:r>
              <a:rPr sz="1750">
                <a:solidFill>
                  <a:srgbClr val="1E293B"/>
                </a:solidFill>
                <a:latin typeface="Times New Roman"/>
              </a:rPr>
              <a:t>Moving average calculations.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  • AutoReleaseDaemon: </a:t>
            </a:r>
            <a:r>
              <a:rPr sz="1750">
                <a:solidFill>
                  <a:srgbClr val="1E293B"/>
                </a:solidFill>
                <a:latin typeface="Times New Roman"/>
              </a:rPr>
              <a:t>Periodic background purge worker.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Data Persistence Layer: </a:t>
            </a:r>
            <a:r>
              <a:rPr sz="1750">
                <a:solidFill>
                  <a:srgbClr val="1E293B"/>
                </a:solidFill>
                <a:latin typeface="Times New Roman"/>
              </a:rPr>
              <a:t>MySQL Relational DB managed via JDBC connection pooling with strict ACID transaction isolation.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METHODOLOGY &amp; EXECUTION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Methodology /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12 of 30</a:t>
            </a:r>
          </a:p>
        </p:txBody>
      </p:sp>
      <p:pic>
        <p:nvPicPr>
          <p:cNvPr id="9" name="Picture 8" descr="review_s10_img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60258"/>
            <a:ext cx="7132320" cy="818549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371600"/>
            <a:ext cx="932688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932688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Iterative Engineering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482326"/>
            <a:ext cx="8686800" cy="647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4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Phase 1: Problem Definition &amp; Data Modeling: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Analyzed campus library occupancy logs and established the 15-minute grace threshold and zone requirements.</a:t>
            </a:r>
          </a:p>
          <a:p>
            <a:pPr algn="just">
              <a:spcBef>
                <a:spcPts val="600"/>
              </a:spcBef>
              <a:spcAft>
                <a:spcPts val="14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Phase 2: Relational Schema &amp; Stored Procedures: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Designed 6 normalized tables in MySQL with foreign key constraints, indexes, and optimized query execution paths.</a:t>
            </a:r>
          </a:p>
          <a:p>
            <a:pPr algn="just">
              <a:spcBef>
                <a:spcPts val="600"/>
              </a:spcBef>
              <a:spcAft>
                <a:spcPts val="14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Phase 3: Core Java Booking &amp; Concurrency Engine: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Implemented thread-safe booking algorithms using </a:t>
            </a:r>
            <a:r>
              <a:rPr sz="1950" dirty="0" err="1">
                <a:solidFill>
                  <a:srgbClr val="1E293B"/>
                </a:solidFill>
                <a:latin typeface="Times New Roman"/>
              </a:rPr>
              <a:t>ReentrantLock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 to prevent race conditions during high-volume booking rushes.</a:t>
            </a:r>
          </a:p>
          <a:p>
            <a:pPr algn="just">
              <a:spcBef>
                <a:spcPts val="600"/>
              </a:spcBef>
              <a:spcAft>
                <a:spcPts val="14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Phase 4: Predictive Analytics Engine: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Engineered time-series Moving Average (SMA) algorithms to compute hourly congestion scores and recommend alternative slots.</a:t>
            </a:r>
          </a:p>
          <a:p>
            <a:pPr algn="just">
              <a:spcBef>
                <a:spcPts val="600"/>
              </a:spcBef>
              <a:spcAft>
                <a:spcPts val="14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Phase 5: Automated Grace Daemon &amp; UI Integration: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Constructed background daemon for automated no-show purge and integrated real-time interactive floor matrix.</a:t>
            </a:r>
          </a:p>
          <a:p>
            <a:pPr algn="just">
              <a:spcBef>
                <a:spcPts val="600"/>
              </a:spcBef>
              <a:spcAft>
                <a:spcPts val="14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Phase 6: Verification, Concurrency Testing &amp; Deployment: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Conducted JUnit unit testing, multi-threaded stress tests (100 simultaneous bookings), and packaged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UML &amp; 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System / Product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13 of 30</a:t>
            </a:r>
          </a:p>
        </p:txBody>
      </p:sp>
      <p:pic>
        <p:nvPicPr>
          <p:cNvPr id="9" name="Picture 8" descr="review_s11_im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9875520" cy="6583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881360" y="1371600"/>
            <a:ext cx="66751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81360" y="1371600"/>
            <a:ext cx="667512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Database Schema &amp; UML 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2240280"/>
            <a:ext cx="6035040" cy="6514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650" b="1" dirty="0">
                <a:solidFill>
                  <a:srgbClr val="1E3A8A"/>
                </a:solidFill>
                <a:latin typeface="Times New Roman"/>
              </a:rPr>
              <a:t>• </a:t>
            </a:r>
            <a:r>
              <a:rPr b="1" dirty="0">
                <a:solidFill>
                  <a:srgbClr val="1E3A8A"/>
                </a:solidFill>
                <a:latin typeface="Times New Roman"/>
              </a:rPr>
              <a:t>Normalized Database Entities (3NF): 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1. USERS: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user_id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(PK), name, email,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password_hash</a:t>
            </a:r>
            <a:r>
              <a:rPr dirty="0">
                <a:solidFill>
                  <a:srgbClr val="1E293B"/>
                </a:solidFill>
                <a:latin typeface="Times New Roman"/>
              </a:rPr>
              <a:t>, role,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reg_date</a:t>
            </a:r>
            <a:endParaRPr dirty="0">
              <a:solidFill>
                <a:srgbClr val="1E293B"/>
              </a:solidFill>
              <a:latin typeface="Times New Roman"/>
            </a:endParaRP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2. SEATS: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seat_id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(PK),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seat_number</a:t>
            </a:r>
            <a:r>
              <a:rPr dirty="0">
                <a:solidFill>
                  <a:srgbClr val="1E293B"/>
                </a:solidFill>
                <a:latin typeface="Times New Roman"/>
              </a:rPr>
              <a:t>, floor, zone,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seat_type</a:t>
            </a:r>
            <a:r>
              <a:rPr dirty="0">
                <a:solidFill>
                  <a:srgbClr val="1E293B"/>
                </a:solidFill>
                <a:latin typeface="Times New Roman"/>
              </a:rPr>
              <a:t>, status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3. RESERVATIONS: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reservation_id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(PK),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user_id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(FK),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seat_id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(FK), date,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start_time</a:t>
            </a:r>
            <a:r>
              <a:rPr dirty="0">
                <a:solidFill>
                  <a:srgbClr val="1E293B"/>
                </a:solidFill>
                <a:latin typeface="Times New Roman"/>
              </a:rPr>
              <a:t>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end_time</a:t>
            </a:r>
            <a:r>
              <a:rPr dirty="0">
                <a:solidFill>
                  <a:srgbClr val="1E293B"/>
                </a:solidFill>
                <a:latin typeface="Times New Roman"/>
              </a:rPr>
              <a:t>, status,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check_in_time</a:t>
            </a:r>
            <a:endParaRPr dirty="0">
              <a:solidFill>
                <a:srgbClr val="1E293B"/>
              </a:solidFill>
              <a:latin typeface="Times New Roman"/>
            </a:endParaRP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4. OCCUPANCY_LOGS: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occupancy_id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(PK),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seat_id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(FK), date,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time_slot</a:t>
            </a:r>
            <a:r>
              <a:rPr dirty="0">
                <a:solidFill>
                  <a:srgbClr val="1E293B"/>
                </a:solidFill>
                <a:latin typeface="Times New Roman"/>
              </a:rPr>
              <a:t>, status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5. DEMAND_PREDICTIONS: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prediction_id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(PK), date,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time_slot</a:t>
            </a:r>
            <a:r>
              <a:rPr dirty="0">
                <a:solidFill>
                  <a:srgbClr val="1E293B"/>
                </a:solidFill>
                <a:latin typeface="Times New Roman"/>
              </a:rPr>
              <a:t>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predicted_demand</a:t>
            </a:r>
            <a:r>
              <a:rPr dirty="0">
                <a:solidFill>
                  <a:srgbClr val="1E293B"/>
                </a:solidFill>
                <a:latin typeface="Times New Roman"/>
              </a:rPr>
              <a:t>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peak_level</a:t>
            </a:r>
            <a:endParaRPr dirty="0">
              <a:solidFill>
                <a:srgbClr val="1E293B"/>
              </a:solidFill>
              <a:latin typeface="Times New Roman"/>
            </a:endParaRP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6. FEEDBACK: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feedback_id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(PK),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user_id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(FK), rating, comments, timestamp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UML Transaction Sequence Flow: </a:t>
            </a:r>
            <a:r>
              <a:rPr dirty="0">
                <a:solidFill>
                  <a:srgbClr val="1E293B"/>
                </a:solidFill>
                <a:latin typeface="Times New Roman"/>
              </a:rPr>
              <a:t>Student Login → Fetch Live Seat Matrix → Select Seat &amp; Slot → Acquire Concurrency Lock → Validate Conflict → Commit JDBC Transaction → Trigger Async Confirmation → Monitor via Grace Daemon.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TECHNOLOGY STACK &amp; TOOLCHAIN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Technology Stack &amp;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14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9319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93192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1. Core Backend (Java)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04303"/>
            <a:ext cx="329183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Language: </a:t>
            </a:r>
            <a:r>
              <a:rPr sz="1800">
                <a:solidFill>
                  <a:srgbClr val="1E293B"/>
                </a:solidFill>
                <a:latin typeface="Times New Roman"/>
              </a:rPr>
              <a:t>Java Standard Edition (JDK 17 / 21 LTS)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Concurrency Utilities: </a:t>
            </a:r>
            <a:r>
              <a:rPr sz="1800">
                <a:solidFill>
                  <a:srgbClr val="1E293B"/>
                </a:solidFill>
                <a:latin typeface="Times New Roman"/>
              </a:rPr>
              <a:t>java.util.concurrent (ReentrantLock, ConcurrentHashMap)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OOP Architecture: </a:t>
            </a:r>
            <a:r>
              <a:rPr sz="1800">
                <a:solidFill>
                  <a:srgbClr val="1E293B"/>
                </a:solidFill>
                <a:latin typeface="Times New Roman"/>
              </a:rPr>
              <a:t>MVC Pattern, DAO Design Pattern, Service Layer abstraction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Network &amp; APIs: </a:t>
            </a:r>
            <a:r>
              <a:rPr sz="1800">
                <a:solidFill>
                  <a:srgbClr val="1E293B"/>
                </a:solidFill>
                <a:latin typeface="Times New Roman"/>
              </a:rPr>
              <a:t>Java Sockets, Servlets, RESTful JSON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371600"/>
            <a:ext cx="39319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37760" y="1371600"/>
            <a:ext cx="393192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2. Database &amp;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504303"/>
            <a:ext cx="329183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RDBMS: </a:t>
            </a:r>
            <a:r>
              <a:rPr sz="1800">
                <a:solidFill>
                  <a:srgbClr val="1E293B"/>
                </a:solidFill>
                <a:latin typeface="Times New Roman"/>
              </a:rPr>
              <a:t>MySQL 8.0 Community Server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Storage Engine: </a:t>
            </a:r>
            <a:r>
              <a:rPr sz="1800">
                <a:solidFill>
                  <a:srgbClr val="1E293B"/>
                </a:solidFill>
                <a:latin typeface="Times New Roman"/>
              </a:rPr>
              <a:t>InnoDB (Row-level locking, ACID compliance)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Connectivity: </a:t>
            </a:r>
            <a:r>
              <a:rPr sz="1800">
                <a:solidFill>
                  <a:srgbClr val="1E293B"/>
                </a:solidFill>
                <a:latin typeface="Times New Roman"/>
              </a:rPr>
              <a:t>JDBC Connector/J 8.x driver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Optimization: </a:t>
            </a:r>
            <a:r>
              <a:rPr sz="1800">
                <a:solidFill>
                  <a:srgbClr val="1E293B"/>
                </a:solidFill>
                <a:latin typeface="Times New Roman"/>
              </a:rPr>
              <a:t>PreparedStatement caching, Indexing on seat_id and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71600"/>
            <a:ext cx="39319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0" y="1371600"/>
            <a:ext cx="393192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3. Frontend &amp; Visuals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504303"/>
            <a:ext cx="329183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Web UI: </a:t>
            </a:r>
            <a:r>
              <a:rPr sz="1800">
                <a:solidFill>
                  <a:srgbClr val="1E293B"/>
                </a:solidFill>
                <a:latin typeface="Times New Roman"/>
              </a:rPr>
              <a:t>HTML5, CSS3, Modern JavaScript ES6+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Desktop UI: </a:t>
            </a:r>
            <a:r>
              <a:rPr sz="1800">
                <a:solidFill>
                  <a:srgbClr val="1E293B"/>
                </a:solidFill>
                <a:latin typeface="Times New Roman"/>
              </a:rPr>
              <a:t>JavaFX 17 / Java Swing UI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Charting Engine: </a:t>
            </a:r>
            <a:r>
              <a:rPr sz="1800">
                <a:solidFill>
                  <a:srgbClr val="1E293B"/>
                </a:solidFill>
                <a:latin typeface="Times New Roman"/>
              </a:rPr>
              <a:t>JFreeChart 1.5 &amp; Matplotlib visualization bridge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Responsive Layout: </a:t>
            </a:r>
            <a:r>
              <a:rPr sz="1800">
                <a:solidFill>
                  <a:srgbClr val="1E293B"/>
                </a:solidFill>
                <a:latin typeface="Times New Roman"/>
              </a:rPr>
              <a:t>CSS Grid &amp; Flexbox floor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50240" y="1371600"/>
            <a:ext cx="420624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3350240" y="1371600"/>
            <a:ext cx="4206240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4. Development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70280" y="3504303"/>
            <a:ext cx="356615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IDE: </a:t>
            </a:r>
            <a:r>
              <a:rPr sz="1800">
                <a:solidFill>
                  <a:srgbClr val="1E293B"/>
                </a:solidFill>
                <a:latin typeface="Times New Roman"/>
              </a:rPr>
              <a:t>Visual Studio Code, IntelliJ IDEA, Eclipse IDE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Build Tool: </a:t>
            </a:r>
            <a:r>
              <a:rPr sz="1800">
                <a:solidFill>
                  <a:srgbClr val="1E293B"/>
                </a:solidFill>
                <a:latin typeface="Times New Roman"/>
              </a:rPr>
              <a:t>Apache Maven (Dependency management)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Version Control: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Git &amp; GitHub repository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Web Server: </a:t>
            </a:r>
            <a:r>
              <a:rPr sz="1800">
                <a:solidFill>
                  <a:srgbClr val="1E293B"/>
                </a:solidFill>
                <a:latin typeface="Times New Roman"/>
              </a:rPr>
              <a:t>Apache Tomcat 10.x / Embedded HTTP Server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MODULE 1 - CORE RESERVATION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Module 1: Smart Seat Reservation &amp; Occupancy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15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7955279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7955279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Algorithmic Design &amp;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731519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Module Purpose: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Manages the core reservation lifecycle, real-time desk state transitions, and sub-second seat availability synchronization.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1. Greedy Seat Allocation Algorithm: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Rapidly assigns the optimal available desk based on user zone preference, power outlet availability, and proximity in O(1) time.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2. </a:t>
            </a:r>
            <a:r>
              <a:rPr sz="1850" b="1" dirty="0" err="1">
                <a:solidFill>
                  <a:srgbClr val="1E3A8A"/>
                </a:solidFill>
                <a:latin typeface="Times New Roman"/>
              </a:rPr>
              <a:t>ConcurrentHashMap</a:t>
            </a:r>
            <a:r>
              <a:rPr sz="1850" b="1" dirty="0">
                <a:solidFill>
                  <a:srgbClr val="1E3A8A"/>
                </a:solidFill>
                <a:latin typeface="Times New Roman"/>
              </a:rPr>
              <a:t> State Caching: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Maintains an in-memory synchronized cache of all seats to eliminate redundant database reads on high-frequency UI queries.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3. First-Come-First-Serve (FCFS) Queue: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Guarantees fair request ordering during peak booking windows, preventing starvation.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4. Automated 15-Minute Grace Daemon: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An asynchronous </a:t>
            </a:r>
            <a:r>
              <a:rPr sz="1800" dirty="0" err="1">
                <a:solidFill>
                  <a:srgbClr val="1E293B"/>
                </a:solidFill>
                <a:latin typeface="Times New Roman"/>
              </a:rPr>
              <a:t>ScheduledExecutorService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 scans active reservations every 60s. If check-in is not logged within 15 mins of start time, the reservation is revoked.</a:t>
            </a:r>
          </a:p>
        </p:txBody>
      </p:sp>
      <p:pic>
        <p:nvPicPr>
          <p:cNvPr id="12" name="Picture 11" descr="chart_slide15_state_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371600"/>
            <a:ext cx="8595360" cy="70043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MODULE 2 -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Module 2: Predictive Demand Analytics &amp; Smart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16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7955279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7955279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Mathematical Model &amp;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7315199" cy="6160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Module Purpose: </a:t>
            </a:r>
            <a:r>
              <a:rPr dirty="0">
                <a:solidFill>
                  <a:srgbClr val="1E293B"/>
                </a:solidFill>
                <a:latin typeface="Times New Roman"/>
              </a:rPr>
              <a:t>Forecasts future hourly seat demand using historical booking telemetry and proactively suggests optimal alternative study slots.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1. Moving Average Formulation: </a:t>
            </a:r>
            <a:r>
              <a:rPr dirty="0">
                <a:solidFill>
                  <a:srgbClr val="1E293B"/>
                </a:solidFill>
                <a:latin typeface="Times New Roman"/>
              </a:rPr>
              <a:t>Computes rolling average over k historical observation days:
Demand(t) = (1/k) * Σ Occupancy(t-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i</a:t>
            </a:r>
            <a:r>
              <a:rPr dirty="0">
                <a:solidFill>
                  <a:srgbClr val="1E293B"/>
                </a:solidFill>
                <a:latin typeface="Times New Roman"/>
              </a:rPr>
              <a:t>)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2. Weighted Exam-Period Multiplier: </a:t>
            </a:r>
            <a:r>
              <a:rPr dirty="0">
                <a:solidFill>
                  <a:srgbClr val="1E293B"/>
                </a:solidFill>
                <a:latin typeface="Times New Roman"/>
              </a:rPr>
              <a:t>Adjusts demand predictions during examination weeks using weighted multiplier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w_exam</a:t>
            </a:r>
            <a:r>
              <a:rPr dirty="0">
                <a:solidFill>
                  <a:srgbClr val="1E293B"/>
                </a:solidFill>
                <a:latin typeface="Times New Roman"/>
              </a:rPr>
              <a:t> = 1.35.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3. Congestion Level Classification: </a:t>
            </a:r>
            <a:r>
              <a:rPr dirty="0">
                <a:solidFill>
                  <a:srgbClr val="1E293B"/>
                </a:solidFill>
                <a:latin typeface="Times New Roman"/>
              </a:rPr>
              <a:t>• Low Demand: &lt;40% occupancy (Green)
• Moderate Demand: 40–75% occupancy (Yellow)
• Peak / Rush Hour: &gt;75% occupancy (Red)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4. Smart Recommendation Heuristic: </a:t>
            </a:r>
            <a:r>
              <a:rPr dirty="0">
                <a:solidFill>
                  <a:srgbClr val="1E293B"/>
                </a:solidFill>
                <a:latin typeface="Times New Roman"/>
              </a:rPr>
              <a:t>When a student requests a slot classified as Peak (&gt;80%), the engine scans adjacent ±2 hour windows and alternative quiet zones to suggest available slots.</a:t>
            </a:r>
          </a:p>
        </p:txBody>
      </p:sp>
      <p:pic>
        <p:nvPicPr>
          <p:cNvPr id="12" name="Picture 11" descr="chart_slide16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39" y="2873938"/>
            <a:ext cx="8595360" cy="45391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MODULE 3 - ADMINISTRATION &amp;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Module 3: Tracking, Mentor Feedback &amp;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17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7955279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7955279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Tracking, Feedback &amp; Communication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7315199" cy="6523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Module Purpose: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Provides comprehensive attendance auditing, student feedback sentiment analysis, and automated asynchronous notifications.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1. Attendance &amp; Verification Engine: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Logs exact check-in and check-out timestamps; flags students with repeated no-show infractions for temporary booking cooldowns.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2. Feedback Sentiment &amp; Rating Aggregator: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Collects 1–5 star ratings and textual comments post-study session to identify maintenance issues (e.g. broken outlets, noise complaints).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3. Asynchronous Notification Dispatcher: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Dispatches non-blocking alerts: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• Booking Confirmation: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Instant seat ID, zone &amp; access token.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• 10-Minute Grace Warning: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Urgent reminder to check in.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• Auto-Cancellation Notice: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Alerts student if slot was revoked.</a:t>
            </a:r>
          </a:p>
        </p:txBody>
      </p:sp>
      <p:pic>
        <p:nvPicPr>
          <p:cNvPr id="12" name="Picture 11" descr="chart_slide17_notification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712656"/>
            <a:ext cx="8896574" cy="70513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ALGORITHM &amp; JAVA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Key Algorithm / Technical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18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7955279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7955279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Algorithmic Formulations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73994"/>
            <a:ext cx="7315199" cy="525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20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1. Greedy Seat Selection Formulation: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Optimal seat S* is selected by maximizing fitness score:
Score(S) = α·ZoneMatch + β·Proximity + </a:t>
            </a:r>
            <a:r>
              <a:rPr sz="1850" dirty="0" err="1">
                <a:solidFill>
                  <a:srgbClr val="1E293B"/>
                </a:solidFill>
                <a:latin typeface="Times New Roman"/>
              </a:rPr>
              <a:t>γ·PowerOutlet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
where α=0.5, β=0.3, γ=0.2.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20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2. Concurrency Lock Implementation: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Critical booking sections are protected with Java </a:t>
            </a:r>
            <a:r>
              <a:rPr sz="1850" dirty="0" err="1">
                <a:solidFill>
                  <a:srgbClr val="1E293B"/>
                </a:solidFill>
                <a:latin typeface="Times New Roman"/>
              </a:rPr>
              <a:t>ReentrantLock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 and SQL SELECT ... FOR UPDATE transactions, preventing double-allocation race conditions.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20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3. Moving Average Demand Function: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Calculates historical weighted rolling mean across the preceding 14-day observation window.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8595360" cy="7772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61120" y="1371600"/>
            <a:ext cx="85953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8BDF8"/>
                </a:solidFill>
                <a:latin typeface="Times New Roman"/>
              </a:defRPr>
            </a:pPr>
            <a:r>
              <a:t>  SeatAllocationEngine.java &amp; DemandPredictor.java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240280"/>
            <a:ext cx="822960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Times New Roman"/>
              </a:defRPr>
            </a:pPr>
            <a:r>
              <a:rPr dirty="0"/>
              <a:t>// 1. Thread-Safe Atomic Reservation Engine</a:t>
            </a:r>
            <a:br>
              <a:rPr dirty="0"/>
            </a:br>
            <a:r>
              <a:rPr dirty="0"/>
              <a:t>public synchronized </a:t>
            </a:r>
            <a:r>
              <a:rPr dirty="0" err="1"/>
              <a:t>BookingResult</a:t>
            </a:r>
            <a:r>
              <a:rPr dirty="0"/>
              <a:t> </a:t>
            </a:r>
            <a:r>
              <a:rPr dirty="0" err="1"/>
              <a:t>reserveSeat</a:t>
            </a:r>
            <a:r>
              <a:rPr dirty="0"/>
              <a:t>(int </a:t>
            </a:r>
            <a:r>
              <a:rPr dirty="0" err="1"/>
              <a:t>userId</a:t>
            </a:r>
            <a:r>
              <a:rPr dirty="0"/>
              <a:t>, int </a:t>
            </a:r>
            <a:r>
              <a:rPr dirty="0" err="1"/>
              <a:t>seatId</a:t>
            </a:r>
            <a:r>
              <a:rPr dirty="0"/>
              <a:t>, </a:t>
            </a:r>
            <a:r>
              <a:rPr dirty="0" err="1"/>
              <a:t>TimeSlot</a:t>
            </a:r>
            <a:r>
              <a:rPr dirty="0"/>
              <a:t> slot) {</a:t>
            </a:r>
            <a:br>
              <a:rPr dirty="0"/>
            </a:br>
            <a:r>
              <a:rPr dirty="0"/>
              <a:t>    </a:t>
            </a:r>
            <a:r>
              <a:rPr dirty="0" err="1"/>
              <a:t>lock.lock</a:t>
            </a:r>
            <a:r>
              <a:rPr dirty="0"/>
              <a:t>();</a:t>
            </a:r>
            <a:br>
              <a:rPr dirty="0"/>
            </a:br>
            <a:r>
              <a:rPr dirty="0"/>
              <a:t>    try (Connection conn = </a:t>
            </a:r>
            <a:r>
              <a:rPr dirty="0" err="1"/>
              <a:t>DBConnectionPool.getConnection</a:t>
            </a:r>
            <a:r>
              <a:rPr dirty="0"/>
              <a:t>()) {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conn.setAutoCommit</a:t>
            </a:r>
            <a:r>
              <a:rPr dirty="0"/>
              <a:t>(false);</a:t>
            </a:r>
            <a:br>
              <a:rPr dirty="0"/>
            </a:br>
            <a:r>
              <a:rPr dirty="0"/>
              <a:t>        String </a:t>
            </a:r>
            <a:r>
              <a:rPr dirty="0" err="1"/>
              <a:t>checkSql</a:t>
            </a:r>
            <a:r>
              <a:rPr dirty="0"/>
              <a:t> = "SELECT status FROM seats WHERE </a:t>
            </a:r>
            <a:r>
              <a:rPr dirty="0" err="1"/>
              <a:t>seat_id</a:t>
            </a:r>
            <a:r>
              <a:rPr dirty="0"/>
              <a:t> = ? FOR UPDATE";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PreparedStatement</a:t>
            </a:r>
            <a:r>
              <a:rPr dirty="0"/>
              <a:t> </a:t>
            </a:r>
            <a:r>
              <a:rPr dirty="0" err="1"/>
              <a:t>ps</a:t>
            </a:r>
            <a:r>
              <a:rPr dirty="0"/>
              <a:t> = </a:t>
            </a:r>
            <a:r>
              <a:rPr dirty="0" err="1"/>
              <a:t>conn.prepareStatement</a:t>
            </a:r>
            <a:r>
              <a:rPr dirty="0"/>
              <a:t>(</a:t>
            </a:r>
            <a:r>
              <a:rPr dirty="0" err="1"/>
              <a:t>checkSql</a:t>
            </a:r>
            <a:r>
              <a:rPr dirty="0"/>
              <a:t>);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ps.setInt</a:t>
            </a:r>
            <a:r>
              <a:rPr dirty="0"/>
              <a:t>(1, </a:t>
            </a:r>
            <a:r>
              <a:rPr dirty="0" err="1"/>
              <a:t>seatId</a:t>
            </a:r>
            <a:r>
              <a:rPr dirty="0"/>
              <a:t>);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ResultSet</a:t>
            </a:r>
            <a:r>
              <a:rPr dirty="0"/>
              <a:t> </a:t>
            </a:r>
            <a:r>
              <a:rPr dirty="0" err="1"/>
              <a:t>rs</a:t>
            </a:r>
            <a:r>
              <a:rPr dirty="0"/>
              <a:t> = </a:t>
            </a:r>
            <a:r>
              <a:rPr dirty="0" err="1"/>
              <a:t>ps.executeQuery</a:t>
            </a:r>
            <a:r>
              <a:rPr dirty="0"/>
              <a:t>();</a:t>
            </a:r>
            <a:br>
              <a:rPr dirty="0"/>
            </a:br>
            <a:r>
              <a:rPr dirty="0"/>
              <a:t>        if (</a:t>
            </a:r>
            <a:r>
              <a:rPr dirty="0" err="1"/>
              <a:t>rs.next</a:t>
            </a:r>
            <a:r>
              <a:rPr dirty="0"/>
              <a:t>() &amp;&amp; </a:t>
            </a:r>
            <a:r>
              <a:rPr dirty="0" err="1"/>
              <a:t>rs.getString</a:t>
            </a:r>
            <a:r>
              <a:rPr dirty="0"/>
              <a:t>("status").equals("AVAILABLE")) {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updateSeatStatus</a:t>
            </a:r>
            <a:r>
              <a:rPr dirty="0"/>
              <a:t>(conn, </a:t>
            </a:r>
            <a:r>
              <a:rPr dirty="0" err="1"/>
              <a:t>seatId</a:t>
            </a:r>
            <a:r>
              <a:rPr dirty="0"/>
              <a:t>, "RESERVED");</a:t>
            </a:r>
            <a:br>
              <a:rPr dirty="0"/>
            </a:br>
            <a:r>
              <a:rPr dirty="0"/>
              <a:t>            int </a:t>
            </a:r>
            <a:r>
              <a:rPr dirty="0" err="1"/>
              <a:t>resId</a:t>
            </a:r>
            <a:r>
              <a:rPr dirty="0"/>
              <a:t> = </a:t>
            </a:r>
            <a:r>
              <a:rPr dirty="0" err="1"/>
              <a:t>insertReservation</a:t>
            </a:r>
            <a:r>
              <a:rPr dirty="0"/>
              <a:t>(conn, </a:t>
            </a:r>
            <a:r>
              <a:rPr dirty="0" err="1"/>
              <a:t>userId</a:t>
            </a:r>
            <a:r>
              <a:rPr dirty="0"/>
              <a:t>, </a:t>
            </a:r>
            <a:r>
              <a:rPr dirty="0" err="1"/>
              <a:t>seatId</a:t>
            </a:r>
            <a:r>
              <a:rPr dirty="0"/>
              <a:t>, slot);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conn.commit</a:t>
            </a:r>
            <a:r>
              <a:rPr dirty="0"/>
              <a:t>();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scheduleAutoReleaseDaemon</a:t>
            </a:r>
            <a:r>
              <a:rPr dirty="0"/>
              <a:t>(</a:t>
            </a:r>
            <a:r>
              <a:rPr dirty="0" err="1"/>
              <a:t>resId</a:t>
            </a:r>
            <a:r>
              <a:rPr dirty="0"/>
              <a:t>, </a:t>
            </a:r>
            <a:r>
              <a:rPr dirty="0" err="1"/>
              <a:t>seatId</a:t>
            </a:r>
            <a:r>
              <a:rPr dirty="0"/>
              <a:t>, </a:t>
            </a:r>
            <a:r>
              <a:rPr dirty="0" err="1"/>
              <a:t>slot.getStartTime</a:t>
            </a:r>
            <a:r>
              <a:rPr dirty="0"/>
              <a:t>());</a:t>
            </a:r>
            <a:br>
              <a:rPr dirty="0"/>
            </a:br>
            <a:r>
              <a:rPr dirty="0"/>
              <a:t>            return new </a:t>
            </a:r>
            <a:r>
              <a:rPr dirty="0" err="1"/>
              <a:t>BookingResult</a:t>
            </a:r>
            <a:r>
              <a:rPr dirty="0"/>
              <a:t>(true, "Booking Confirmed!", </a:t>
            </a:r>
            <a:r>
              <a:rPr dirty="0" err="1"/>
              <a:t>resId</a:t>
            </a:r>
            <a:r>
              <a:rPr dirty="0"/>
              <a:t>);</a:t>
            </a:r>
            <a:br>
              <a:rPr dirty="0"/>
            </a:br>
            <a:r>
              <a:rPr dirty="0"/>
              <a:t>        }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conn.rollback</a:t>
            </a:r>
            <a:r>
              <a:rPr dirty="0"/>
              <a:t>();</a:t>
            </a:r>
            <a:br>
              <a:rPr dirty="0"/>
            </a:br>
            <a:r>
              <a:rPr dirty="0"/>
              <a:t>        return new </a:t>
            </a:r>
            <a:r>
              <a:rPr dirty="0" err="1"/>
              <a:t>BookingResult</a:t>
            </a:r>
            <a:r>
              <a:rPr dirty="0"/>
              <a:t>(false, "Seat already booked. Suggesting alternate...");</a:t>
            </a:r>
            <a:br>
              <a:rPr dirty="0"/>
            </a:br>
            <a:r>
              <a:rPr dirty="0"/>
              <a:t>    } finally { </a:t>
            </a:r>
            <a:r>
              <a:rPr dirty="0" err="1"/>
              <a:t>lock.unlock</a:t>
            </a:r>
            <a:r>
              <a:rPr dirty="0"/>
              <a:t>(); }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// 2. Simple Moving Average Demand Predictor</a:t>
            </a:r>
            <a:br>
              <a:rPr dirty="0"/>
            </a:br>
            <a:r>
              <a:rPr dirty="0"/>
              <a:t>public double </a:t>
            </a:r>
            <a:r>
              <a:rPr dirty="0" err="1"/>
              <a:t>predictOccupancy</a:t>
            </a:r>
            <a:r>
              <a:rPr dirty="0"/>
              <a:t>(int </a:t>
            </a:r>
            <a:r>
              <a:rPr dirty="0" err="1"/>
              <a:t>timeSlotId</a:t>
            </a:r>
            <a:r>
              <a:rPr dirty="0"/>
              <a:t>, int </a:t>
            </a:r>
            <a:r>
              <a:rPr dirty="0" err="1"/>
              <a:t>historyDays</a:t>
            </a:r>
            <a:r>
              <a:rPr dirty="0"/>
              <a:t>) {</a:t>
            </a:r>
            <a:br>
              <a:rPr dirty="0"/>
            </a:br>
            <a:r>
              <a:rPr dirty="0"/>
              <a:t>    List&lt;Double&gt; history = </a:t>
            </a:r>
            <a:r>
              <a:rPr dirty="0" err="1"/>
              <a:t>getHistoricalOccupancy</a:t>
            </a:r>
            <a:r>
              <a:rPr dirty="0"/>
              <a:t>(</a:t>
            </a:r>
            <a:r>
              <a:rPr dirty="0" err="1"/>
              <a:t>timeSlotId</a:t>
            </a:r>
            <a:r>
              <a:rPr dirty="0"/>
              <a:t>, </a:t>
            </a:r>
            <a:r>
              <a:rPr dirty="0" err="1"/>
              <a:t>historyDays</a:t>
            </a:r>
            <a:r>
              <a:rPr dirty="0"/>
              <a:t>);</a:t>
            </a:r>
            <a:br>
              <a:rPr dirty="0"/>
            </a:br>
            <a:r>
              <a:rPr dirty="0"/>
              <a:t>    double sum = </a:t>
            </a:r>
            <a:r>
              <a:rPr dirty="0" err="1"/>
              <a:t>history.stream</a:t>
            </a:r>
            <a:r>
              <a:rPr dirty="0"/>
              <a:t>().</a:t>
            </a:r>
            <a:r>
              <a:rPr dirty="0" err="1"/>
              <a:t>mapToDouble</a:t>
            </a:r>
            <a:r>
              <a:rPr dirty="0"/>
              <a:t>(Double::</a:t>
            </a:r>
            <a:r>
              <a:rPr dirty="0" err="1"/>
              <a:t>doubleValue</a:t>
            </a:r>
            <a:r>
              <a:rPr dirty="0"/>
              <a:t>).sum();</a:t>
            </a:r>
            <a:br>
              <a:rPr dirty="0"/>
            </a:br>
            <a:r>
              <a:rPr dirty="0"/>
              <a:t>    double </a:t>
            </a:r>
            <a:r>
              <a:rPr dirty="0" err="1"/>
              <a:t>sma</a:t>
            </a:r>
            <a:r>
              <a:rPr dirty="0"/>
              <a:t> = sum / </a:t>
            </a:r>
            <a:r>
              <a:rPr dirty="0" err="1"/>
              <a:t>history.size</a:t>
            </a:r>
            <a:r>
              <a:rPr dirty="0"/>
              <a:t>();</a:t>
            </a:r>
            <a:br>
              <a:rPr dirty="0"/>
            </a:br>
            <a:r>
              <a:rPr dirty="0"/>
              <a:t>    return </a:t>
            </a:r>
            <a:r>
              <a:rPr dirty="0" err="1"/>
              <a:t>isExamPeriod</a:t>
            </a:r>
            <a:r>
              <a:rPr dirty="0"/>
              <a:t>() ? </a:t>
            </a:r>
            <a:r>
              <a:rPr dirty="0" err="1"/>
              <a:t>sma</a:t>
            </a:r>
            <a:r>
              <a:rPr dirty="0"/>
              <a:t> * 1.35 : </a:t>
            </a:r>
            <a:r>
              <a:rPr dirty="0" err="1"/>
              <a:t>sma</a:t>
            </a:r>
            <a:r>
              <a:rPr dirty="0"/>
              <a:t>;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WORKING PROTOTYPE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Prototype / Working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19 of 30</a:t>
            </a:r>
          </a:p>
        </p:txBody>
      </p:sp>
      <p:pic>
        <p:nvPicPr>
          <p:cNvPr id="9" name="Picture 8" descr="review_s13_img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8138160" cy="3916490"/>
          </a:xfrm>
          <a:prstGeom prst="rect">
            <a:avLst/>
          </a:prstGeom>
        </p:spPr>
      </p:pic>
      <p:pic>
        <p:nvPicPr>
          <p:cNvPr id="10" name="Picture 9" descr="review_s14_img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1371600"/>
            <a:ext cx="8138160" cy="3987698"/>
          </a:xfrm>
          <a:prstGeom prst="rect">
            <a:avLst/>
          </a:prstGeom>
        </p:spPr>
      </p:pic>
      <p:pic>
        <p:nvPicPr>
          <p:cNvPr id="11" name="Picture 10" descr="review_s14_img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303520"/>
            <a:ext cx="8138160" cy="3845281"/>
          </a:xfrm>
          <a:prstGeom prst="rect">
            <a:avLst/>
          </a:prstGeom>
        </p:spPr>
      </p:pic>
      <p:pic>
        <p:nvPicPr>
          <p:cNvPr id="12" name="Picture 11" descr="review_s14_img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5303520"/>
            <a:ext cx="8138160" cy="38986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TESTING STRATEGY &amp; TEST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Testing &amp;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20 of 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6824960" cy="77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10342"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Test Case ID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Test Scenario &amp; Objective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Input / Conditions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Expected System Output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Actual Observed Result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034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User Authentication &amp; RBAC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Valid Student ID &amp;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Access granted to student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Authenticated in 115ms with role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59669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034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TC-02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Concurrent Double-Booking Race Test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Two simultaneous booking requests for Desk A-12 at same millisecond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One reservation commits; second receives graceful conflict &amp; alternate suggestion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ReentrantLock serialized requests; zero double booking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59669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034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15-Minute No-Show Auto-Release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Reservation created for 10:00 AM; no check-in logged by 10:15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Daemon detects timeout, revokes booking, restores seat to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Reservation cancelled at 10:15:02 AM; seat re-pooled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59669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034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TC-04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Moving Average Demand 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14 days historical telemetry evaluated during exam week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Forecast within ±5% Mean Absolute Error (MAE)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MAE of 4.3% achieved against actual ground truth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59669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034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Smart Alternate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Student requests 2:00 PM slot (92% predicted congestion)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Engine suggests 10:00 AM or Zone B (Discussion) with &lt;50%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Recommended 10:00 AM Silent Study (35% occupancy)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59669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034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TC-06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Admin Real-Time Telemetry Sync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Seat status changes from AVAILABLE to OCCUPIED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Admin dashboard updates live telemetry within &lt;500ms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AJAX polling synced dashboard in 180ms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59669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RESULTS &amp; EMPIRICAL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Results &amp;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21 of 30</a:t>
            </a:r>
          </a:p>
        </p:txBody>
      </p:sp>
      <p:pic>
        <p:nvPicPr>
          <p:cNvPr id="9" name="Picture 8" descr="chart_slide21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8595360" cy="7589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92640" y="1371600"/>
            <a:ext cx="786384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92640" y="1371600"/>
            <a:ext cx="786384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Key Quantitative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3342936"/>
            <a:ext cx="722375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Seat Utilization Rate: </a:t>
            </a:r>
            <a:r>
              <a:rPr sz="1950">
                <a:solidFill>
                  <a:srgbClr val="1E293B"/>
                </a:solidFill>
                <a:latin typeface="Times New Roman"/>
              </a:rPr>
              <a:t>Surged from 62.0% (manual) to 88.5% (+26.5% overall institutional capacity gain).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Search Time Latency: </a:t>
            </a:r>
            <a:r>
              <a:rPr sz="1950">
                <a:solidFill>
                  <a:srgbClr val="1E293B"/>
                </a:solidFill>
                <a:latin typeface="Times New Roman"/>
              </a:rPr>
              <a:t>Slashed from 18.5 minutes down to 1.8 minutes (&gt;90% reduction in student physical wandering).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Ghost Bookings (No-Shows): </a:t>
            </a:r>
            <a:r>
              <a:rPr sz="1950">
                <a:solidFill>
                  <a:srgbClr val="1E293B"/>
                </a:solidFill>
                <a:latin typeface="Times New Roman"/>
              </a:rPr>
              <a:t>Plummeted from 28.0% to 4.2% via automated 15-minute auto-release enforcement.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Demand Prediction Accuracy: </a:t>
            </a:r>
            <a:r>
              <a:rPr sz="1950">
                <a:solidFill>
                  <a:srgbClr val="1E293B"/>
                </a:solidFill>
                <a:latin typeface="Times New Roman"/>
              </a:rPr>
              <a:t>Achieved 94.2% directional accuracy across normal and examination weeks.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User Satisfaction Index: </a:t>
            </a:r>
            <a:r>
              <a:rPr sz="1950">
                <a:solidFill>
                  <a:srgbClr val="1E293B"/>
                </a:solidFill>
                <a:latin typeface="Times New Roman"/>
              </a:rPr>
              <a:t>Rose from 4.8/10 to 9.4/10 based on campus pilot survey feedback.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COMPARATIVE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Comparison with Existing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22 of 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6824960" cy="77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Comparison Feature /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Manual Walk-in System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IoT / RFID Sensor Systems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Commercial Web Portals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Proposed Smart Java System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Real-Time Seat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 (Physical search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Yes (Hardware dependent)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Partial / List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Yes (Real-time Interactive Grid)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Predictive Demand Analytics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Yes (Moving Average Engine)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Auto-Release for No-Shows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Hardware 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Yes (15-min Daemon)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Smart Alternate Slot Suggestion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Yes (Dynamic Heuristic)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Hardware Deployment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Very High ($$$$)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Zero Additional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Thread-Safe Concurrency Lock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Moderate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High (Java ReentrantLock)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Admin Telemetry &amp;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Manual paper logbooks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Basic sensor counters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Static database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Comprehensive Real-Time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ENGINEERING DECISIONS &amp;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Challenges &amp; Engineering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23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Challenge 1: Race Conditions on Peak Bookings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24372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Problem Encountered: </a:t>
            </a:r>
            <a:r>
              <a:rPr sz="1900">
                <a:solidFill>
                  <a:srgbClr val="1E293B"/>
                </a:solidFill>
                <a:latin typeface="Times New Roman"/>
              </a:rPr>
              <a:t>Multiple students attempting to book the same desk simultaneously during rush hours.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Engineering Decision: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Implemented isolated transactions with SELECT ... FOR UPDATE row locks and Java ReentrantLock.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Challenge 2: 'Phantom' Bookings / No-Shows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724372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Problem Encountered: </a:t>
            </a:r>
            <a:r>
              <a:rPr sz="1900">
                <a:solidFill>
                  <a:srgbClr val="1E293B"/>
                </a:solidFill>
                <a:latin typeface="Times New Roman"/>
              </a:rPr>
              <a:t>Students booking seats in advance but failing to occupy them, leaving desks idle.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Engineering Decision: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Engineered an asynchronous ScheduledExecutorService background daemon for 15-minute grace auto-release.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8138160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Challenge 3: Demand Prediction Drift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6863376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Problem Encountered: </a:t>
            </a:r>
            <a:r>
              <a:rPr sz="1900">
                <a:solidFill>
                  <a:srgbClr val="1E293B"/>
                </a:solidFill>
                <a:latin typeface="Times New Roman"/>
              </a:rPr>
              <a:t>Occupancy fluctuations during exam weeks caused standard moving average accuracy to drop.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Engineering Decision: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Introduced day-type weighting multipliers (w_exam = 1.35) to maintain &gt;94% forecast precision.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18320" y="5349240"/>
            <a:ext cx="813816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Challenge 4: UI Latency on Floor Refresh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6863376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Problem Encountered: </a:t>
            </a:r>
            <a:r>
              <a:rPr sz="1900">
                <a:solidFill>
                  <a:srgbClr val="1E293B"/>
                </a:solidFill>
                <a:latin typeface="Times New Roman"/>
              </a:rPr>
              <a:t>Frequent client polling on the seat matrix created database connection bottlenecks.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Engineering Decision: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Implemented in-memory ConcurrentHashMap seat caching with connection pooling, cutting latency to &lt;120ms.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INDIVIDUAL TEAM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Individual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24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3035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30352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E. Lakshmi Narayanan</a:t>
            </a:r>
            <a:br/>
            <a:r>
              <a:t>(192524249 - AI &amp; 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81573"/>
            <a:ext cx="4663440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Key Technical Deliverables: 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• Predictive Demand Engine: </a:t>
            </a:r>
            <a:r>
              <a:rPr>
                <a:solidFill>
                  <a:srgbClr val="1E293B"/>
                </a:solidFill>
                <a:latin typeface="Times New Roman"/>
              </a:rPr>
              <a:t>Designed and implemented the time-series Moving Average demand forecasting algorithm with exam weighting.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• Database Architecture: </a:t>
            </a:r>
            <a:r>
              <a:rPr>
                <a:solidFill>
                  <a:srgbClr val="1E293B"/>
                </a:solidFill>
                <a:latin typeface="Times New Roman"/>
              </a:rPr>
              <a:t>Designed MySQL 3NF schemas, stored procedures, indexing, and JDBC persistence layer.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• Administrative Analytics: </a:t>
            </a:r>
            <a:r>
              <a:rPr>
                <a:solidFill>
                  <a:srgbClr val="1E293B"/>
                </a:solidFill>
                <a:latin typeface="Times New Roman"/>
              </a:rPr>
              <a:t>Built dashboard telemetry, zone utilization heatmaps, and report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371600"/>
            <a:ext cx="53035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1371600"/>
            <a:ext cx="530352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JayaKannan L</a:t>
            </a:r>
            <a:br/>
            <a:r>
              <a:t>(192525376 - AI &amp; ML)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3181573"/>
            <a:ext cx="4663440" cy="5160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Key Technical Deliverables: 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• Core Reservation Engine: </a:t>
            </a:r>
            <a:r>
              <a:rPr>
                <a:solidFill>
                  <a:srgbClr val="1E293B"/>
                </a:solidFill>
                <a:latin typeface="Times New Roman"/>
              </a:rPr>
              <a:t>Built Java business logic, greedy seat allocation algorithm, and FCFS request queue.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• Concurrency &amp; Locking: </a:t>
            </a:r>
            <a:r>
              <a:rPr>
                <a:solidFill>
                  <a:srgbClr val="1E293B"/>
                </a:solidFill>
                <a:latin typeface="Times New Roman"/>
              </a:rPr>
              <a:t>Implemented ReentrantLock synchronization and row-level database locking to eliminate race conditions.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• Grace Period Daemon: </a:t>
            </a:r>
            <a:r>
              <a:rPr>
                <a:solidFill>
                  <a:srgbClr val="1E293B"/>
                </a:solidFill>
                <a:latin typeface="Times New Roman"/>
              </a:rPr>
              <a:t>Constructed 15-minute background auto-release daemon and async notification service.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• Testing &amp; Validation: </a:t>
            </a:r>
            <a:r>
              <a:rPr>
                <a:solidFill>
                  <a:srgbClr val="1E293B"/>
                </a:solidFill>
                <a:latin typeface="Times New Roman"/>
              </a:rPr>
              <a:t>Authored JUnit test cases and multi-threaded concurrency stress test suites.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252960" y="1371600"/>
            <a:ext cx="53035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2252960" y="1371600"/>
            <a:ext cx="530352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Vijay V</a:t>
            </a:r>
            <a:br/>
            <a:r>
              <a:t>(192572123 - AI &amp; DS)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0" y="3181573"/>
            <a:ext cx="4663440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Key Technical Deliverables: 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• Presentation Layer UI: </a:t>
            </a:r>
            <a:r>
              <a:rPr>
                <a:solidFill>
                  <a:srgbClr val="1E293B"/>
                </a:solidFill>
                <a:latin typeface="Times New Roman"/>
              </a:rPr>
              <a:t>Developed interactive visual floor plan, responsive seat matrix, and modern dashboard.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• Authentication &amp; RBAC: </a:t>
            </a:r>
            <a:r>
              <a:rPr>
                <a:solidFill>
                  <a:srgbClr val="1E293B"/>
                </a:solidFill>
                <a:latin typeface="Times New Roman"/>
              </a:rPr>
              <a:t>Implemented secure user registration, session handling, and role-based access control.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• Feedback Sentiment Module: </a:t>
            </a:r>
            <a:r>
              <a:rPr>
                <a:solidFill>
                  <a:srgbClr val="1E293B"/>
                </a:solidFill>
                <a:latin typeface="Times New Roman"/>
              </a:rPr>
              <a:t>Constructed post-study rating and feedback aggregation module.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• System Packaging &amp; Docs: </a:t>
            </a:r>
            <a:r>
              <a:rPr>
                <a:solidFill>
                  <a:srgbClr val="1E293B"/>
                </a:solidFill>
                <a:latin typeface="Times New Roman"/>
              </a:rPr>
              <a:t>Authored documentation, user guides, and cloud deployment setup.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PROJECT PROGRESS &amp;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Project Progress /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25 of 30</a:t>
            </a:r>
          </a:p>
        </p:txBody>
      </p:sp>
      <p:pic>
        <p:nvPicPr>
          <p:cNvPr id="9" name="Picture 8" descr="chart_slide25_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2148840"/>
            <a:ext cx="9281160" cy="621897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92640" y="1371600"/>
            <a:ext cx="786384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92640" y="1371600"/>
            <a:ext cx="786384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Milestone Completion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2240280"/>
            <a:ext cx="722375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Phase 1: Problem ID &amp; Survey: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Weeks 1–2: Analyzed seating bottlenecks, reviewed 5+ IEEE papers. [100% COMPLETED]</a:t>
            </a:r>
          </a:p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Phase 2: Requirements &amp; Architecture: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Weeks 3–4: Formulated FR/NFR, 3-tier architecture, and UML diagrams. [100% COMPLETED]</a:t>
            </a:r>
          </a:p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Phase 3: Database &amp; Core Java Logic: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Weeks 5–7: Built MySQL schemas, JDBC connections, and concurrency locks. [100% COMPLETED]</a:t>
            </a:r>
          </a:p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Phase 4: Predictive Engine &amp; Heuristics: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Weeks 8–10: Implemented Moving Average forecasting and alternative suggestions. [100% COMPLETED]</a:t>
            </a:r>
          </a:p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Phase 5: UI &amp; Automated Daemon: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Weeks 11–12: Integrated interactive floor matrix and 15-min grace daemon. [100% COMPLETED]</a:t>
            </a:r>
          </a:p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Phase 6: Testing &amp; Packaging: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Weeks 13–14: Concurrency stress tests, documentation, and cloud deployment. [100% COMPLETED]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SYSTEM LIMITATIONS &amp;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26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1. Network Connectivity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16796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Operational Constraint: </a:t>
            </a:r>
            <a:r>
              <a:rPr sz="1900">
                <a:solidFill>
                  <a:srgbClr val="1E293B"/>
                </a:solidFill>
                <a:latin typeface="Times New Roman"/>
              </a:rPr>
              <a:t>The system requires students to have active campus Wi-Fi or mobile data to confirm their check-in.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Edge Case Impact: </a:t>
            </a:r>
            <a:r>
              <a:rPr sz="1900">
                <a:solidFill>
                  <a:srgbClr val="1E293B"/>
                </a:solidFill>
                <a:latin typeface="Times New Roman"/>
              </a:rPr>
              <a:t>Temporary network dropouts at library entrance may delay check-in logging.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2. Historical Telemetry Cold-Start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616796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Operational Constraint: </a:t>
            </a:r>
            <a:r>
              <a:rPr sz="1900">
                <a:solidFill>
                  <a:srgbClr val="1E293B"/>
                </a:solidFill>
                <a:latin typeface="Times New Roman"/>
              </a:rPr>
              <a:t>The Moving Average predictive engine requires an initial 7–14 day calibration period of booking logs.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Mitigation: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Default baseline heuristics are utilized during initial deployment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3. Pure Software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6863376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Operational Constraint: </a:t>
            </a:r>
            <a:r>
              <a:rPr sz="1900">
                <a:solidFill>
                  <a:srgbClr val="1E293B"/>
                </a:solidFill>
                <a:latin typeface="Times New Roman"/>
              </a:rPr>
              <a:t>Designed intentionally without physical biometric turnstiles to maintain zero hardware deployment cost.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Design Trade-off: </a:t>
            </a:r>
            <a:r>
              <a:rPr sz="1900">
                <a:solidFill>
                  <a:srgbClr val="1E293B"/>
                </a:solidFill>
                <a:latin typeface="Times New Roman"/>
              </a:rPr>
              <a:t>Assumes standard user compliance with automated digital check-in protocols.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18320" y="5349240"/>
            <a:ext cx="8138160" cy="7772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4. Check-in Compliance 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6863376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Operational Constraint: </a:t>
            </a:r>
            <a:r>
              <a:rPr sz="1900">
                <a:solidFill>
                  <a:srgbClr val="1E293B"/>
                </a:solidFill>
                <a:latin typeface="Times New Roman"/>
              </a:rPr>
              <a:t>Relies on students actively checking in within the 15-minute grace window.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System Protection: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Non-compliant bookings are automatically revoked and flagged on the student's profile.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FUTURE ENHANCEMENTS &amp;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27 of 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842593"/>
              </p:ext>
            </p:extLst>
          </p:nvPr>
        </p:nvGraphicFramePr>
        <p:xfrm>
          <a:off x="731520" y="3310128"/>
          <a:ext cx="168249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409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</a:rPr>
                        <a:t>Roadmap Horizon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Strategic Technology Initiative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</a:rPr>
                        <a:t>Target Capabilities &amp; User Value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</a:rPr>
                        <a:t>Timeline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409">
                <a:tc>
                  <a:txBody>
                    <a:bodyPr/>
                    <a:lstStyle/>
                    <a:p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Horizon 1 (Near-Term)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BLE Beacons &amp; Dynamic QR Desk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 dirty="0">
                          <a:solidFill>
                            <a:srgbClr val="1E293B"/>
                          </a:solidFill>
                          <a:latin typeface="Times New Roman"/>
                        </a:rPr>
                        <a:t>Enables seamless zero-click proximity check-in as soon as student sits 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Next 3–6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4409">
                <a:tc>
                  <a:txBody>
                    <a:bodyPr/>
                    <a:lstStyle/>
                    <a:p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Horizon 2 (Mid-Term)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Deep Learning (LSTM) &amp; Mobile App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LSTM neural networks for multi-semester forecasting; Cross-platform mobile app with 3D indoor seat wayfinding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Next 6–12 Months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4412">
                <a:tc>
                  <a:txBody>
                    <a:bodyPr/>
                    <a:lstStyle/>
                    <a:p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Horizon 3 (Long-Term)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Multi-Campus University Federation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Scaling platform across all university departmental libraries with centralized SSO and cloud microservices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 dirty="0">
                          <a:solidFill>
                            <a:srgbClr val="1E293B"/>
                          </a:solidFill>
                          <a:latin typeface="Times New Roman"/>
                        </a:rPr>
                        <a:t>Next 12–24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CONCLUSION &amp; 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Conclusion &amp; Project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28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1. Core Objective Fulfillment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58842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Successful Delivery: </a:t>
            </a:r>
            <a:r>
              <a:rPr sz="1900">
                <a:solidFill>
                  <a:srgbClr val="1E293B"/>
                </a:solidFill>
                <a:latin typeface="Times New Roman"/>
              </a:rPr>
              <a:t>Engineered an end-to-end, occupancy-aware smart library reservation platform in Java.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Real-World Impact: </a:t>
            </a:r>
            <a:r>
              <a:rPr sz="1900">
                <a:solidFill>
                  <a:srgbClr val="1E293B"/>
                </a:solidFill>
                <a:latin typeface="Times New Roman"/>
              </a:rPr>
              <a:t>Eliminated physical desk hunting, overcrowding friction, and ghost reservations.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2. Outstanding Empirical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482326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88.5% Seat Utilization: </a:t>
            </a:r>
            <a:r>
              <a:rPr sz="1900" dirty="0">
                <a:solidFill>
                  <a:srgbClr val="1E293B"/>
                </a:solidFill>
                <a:latin typeface="Times New Roman"/>
              </a:rPr>
              <a:t>+26.5% boost in effective library seating capacity.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1.8 Min Search Latency: </a:t>
            </a:r>
            <a:r>
              <a:rPr sz="1900" dirty="0">
                <a:solidFill>
                  <a:srgbClr val="1E293B"/>
                </a:solidFill>
                <a:latin typeface="Times New Roman"/>
              </a:rPr>
              <a:t>Slashed search time by &gt;90% during exam rush hours.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4.2% No-Show Rate: </a:t>
            </a:r>
            <a:r>
              <a:rPr sz="1900" dirty="0">
                <a:solidFill>
                  <a:srgbClr val="1E293B"/>
                </a:solidFill>
                <a:latin typeface="Times New Roman"/>
              </a:rPr>
              <a:t>Eliminated phantom bookings via automated 15-minute daemon.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813816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3. Zero Hardware Cost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7132316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Cost-Effective Solution: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Delivered smart-campus capabilities purely through software engineering, avoiding expensive sensor infrastructure.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18320" y="5349240"/>
            <a:ext cx="813816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4. Key Engineering &amp; Learning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7132316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Technical Mastery: </a:t>
            </a:r>
            <a:r>
              <a:rPr sz="1900">
                <a:solidFill>
                  <a:srgbClr val="1E293B"/>
                </a:solidFill>
                <a:latin typeface="Times New Roman"/>
              </a:rPr>
              <a:t>Gained deep proficiency in Java multithreading, ReentrantLock concurrency, JDBC connection pooling, and predictive modeling.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ACADEMIC &amp; TECHNICAL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29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68249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68249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Academic Publications &amp; Standards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6184880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1. Li, X. Wang, and H. Chen: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"IoT-Enabled Smart Library Seat Management for Improved Resource Allocation," IEEE Access, vol. 13, pp. 12345–12358, 2025.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2. A. Kumar and S. Patel: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"Occupancy Prediction Using Machine Learning for Smart Building Applications," IEEE Internet of Things Journal, vol. 11, no. 4, pp. 4567–4579, 2024.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3. H. Zhang, Y. Liu, and J. Chen: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"Smart Library Occupancy Management System Using Deep Learning," International Journal of Advanced Intelligent Technologies in Computer Science, vol. 3, no. 2, pp. 45–53, 2024.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4. S. Wang and L. Zhao: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"User Behavior Analysis of Library Seat Reservation Based on Grey Correlation Analysis," Library and Information Service, vol. 68, no. 5, pp. 92–101, 2024.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5. A. M. Smith, J. Brown, and K. Lee: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"A Serial Dual-Channel Library Occupancy Detection System Based on Faster R-CNN," Proceedings of the IEEE International Conference on Artificial Intelligence and Smart Systems, pp. 210–217, 2023.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6. M. Brown, R. Davis, and P. Wilson: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"Predictive Analytics for Smart Buildings Using Machine Learning," IEEE Transactions on Artificial Intelligence, vol. 5, no. 1, pp. 45–57, 2023.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7. R. Singh and P. Sharma: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"A Systematic Review on IoT-Based Smart Technologies for Seat Occupancy and Reservation in Smart Libraries," IntechOpen, 2023.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8. Oracle Corporation: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"Java Platform Standard Edition 17 / 21 Concurrency Utilities &amp; JDBC Specification Documentation,"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5776</Words>
  <Application>Microsoft Office PowerPoint</Application>
  <PresentationFormat>Custom</PresentationFormat>
  <Paragraphs>491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lakshmanara123@gmail.com</cp:lastModifiedBy>
  <cp:revision>2</cp:revision>
  <dcterms:created xsi:type="dcterms:W3CDTF">2013-01-27T09:14:16Z</dcterms:created>
  <dcterms:modified xsi:type="dcterms:W3CDTF">2026-08-29T03:56:12Z</dcterms:modified>
  <cp:category/>
</cp:coreProperties>
</file>